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9ABE2"/>
                </a:solidFill>
                <a:latin typeface="Calibri"/>
              </a:rPr>
              <a:t>INTERNATIONAL  SHIPPING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Modern Logistics,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7ED4F5"/>
                </a:solidFill>
                <a:latin typeface="Calibri"/>
              </a:rPr>
              <a:t>Worldwide.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DD6E0"/>
                </a:solidFill>
                <a:latin typeface="Calibri"/>
              </a:rPr>
              <a:t>Air · Sea · Land · Door-to-Door · Customs Clearance — across UAE, India and the GCC.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9ABE2"/>
                </a:solidFill>
                <a:latin typeface="Calibri"/>
              </a:rPr>
              <a:t>FEL International Shipping  ·  Pitch Deck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28640"/>
            <a:ext cx="320040" cy="30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ABE2"/>
                </a:solidFill>
                <a:latin typeface="Calibri"/>
              </a:rPr>
              <a:t>ABOUT FEL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0D2535"/>
                </a:solidFill>
                <a:latin typeface="Calibri"/>
              </a:rPr>
              <a:t>Logistics that simplify global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FEL International Shipping handles both the intricate logistics and freight forwarding requirements of major projects as well as smaller establishments. From single shipments to enterprise supply-chain programmes, we are the partner that turns global trade into a predictable, well-priced, on-time operation.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3383280" cy="13716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29ABE2"/>
                </a:solidFill>
                <a:latin typeface="Calibri"/>
              </a:rPr>
              <a:t>15+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D2535"/>
                </a:solidFill>
                <a:latin typeface="Calibri"/>
              </a:rPr>
              <a:t>Years in Logistics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572000"/>
            <a:ext cx="3383280" cy="13716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7091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29ABE2"/>
                </a:solidFill>
                <a:latin typeface="Calibri"/>
              </a:rPr>
              <a:t>120+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394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D2535"/>
                </a:solidFill>
                <a:latin typeface="Calibri"/>
              </a:rPr>
              <a:t>Countries 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572000"/>
            <a:ext cx="3383280" cy="13716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7091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29ABE2"/>
                </a:solidFill>
                <a:latin typeface="Calibri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394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D2535"/>
                </a:solidFill>
                <a:latin typeface="Calibri"/>
              </a:rPr>
              <a:t>Operations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A8B5"/>
                </a:solidFill>
                <a:latin typeface="Calibri"/>
              </a:rPr>
              <a:t>FEL International Shipping  ·  www.felinternational.com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A8B5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28640"/>
            <a:ext cx="320040" cy="30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ABE2"/>
                </a:solidFill>
                <a:latin typeface="Calibri"/>
              </a:rPr>
              <a:t>BRAND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2535"/>
                </a:solidFill>
                <a:latin typeface="Calibri"/>
              </a:rPr>
              <a:t>Built on trust. Designed for clarity.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920240" cy="2194560"/>
          </a:xfrm>
          <a:prstGeom prst="rect">
            <a:avLst/>
          </a:prstGeom>
          <a:solidFill>
            <a:srgbClr val="07182B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Navy 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#07182B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2468880"/>
            <a:ext cx="1920240" cy="2194560"/>
          </a:xfrm>
          <a:prstGeom prst="rect">
            <a:avLst/>
          </a:prstGeom>
          <a:solidFill>
            <a:srgbClr val="0D2535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3840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Navy 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42062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#0D2535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468880"/>
            <a:ext cx="1920240" cy="2194560"/>
          </a:xfrm>
          <a:prstGeom prst="rect">
            <a:avLst/>
          </a:prstGeom>
          <a:solidFill>
            <a:srgbClr val="29ABE2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840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Sky Blue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2062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#29ABE2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59" y="2468880"/>
            <a:ext cx="1920240" cy="2194560"/>
          </a:xfrm>
          <a:prstGeom prst="rect">
            <a:avLst/>
          </a:prstGeom>
          <a:solidFill>
            <a:srgbClr val="7ED4F5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3840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D2535"/>
                </a:solidFill>
                <a:latin typeface="Calibri"/>
              </a:rPr>
              <a:t>Sky 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42062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D2535"/>
                </a:solidFill>
                <a:latin typeface="Calibri"/>
              </a:rPr>
              <a:t>#7ED4F5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19" y="2468880"/>
            <a:ext cx="1920240" cy="2194560"/>
          </a:xfrm>
          <a:prstGeom prst="rect">
            <a:avLst/>
          </a:prstGeom>
          <a:solidFill>
            <a:srgbClr val="F0F4F8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3840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D2535"/>
                </a:solidFill>
                <a:latin typeface="Calibri"/>
              </a:rPr>
              <a:t>Grey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42062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D2535"/>
                </a:solidFill>
                <a:latin typeface="Calibri"/>
              </a:rPr>
              <a:t>#F0F4F8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9ABE2"/>
                </a:solidFill>
                <a:latin typeface="Calibri"/>
              </a:rPr>
              <a:t>Typography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Manrope (display) + Inter (body)  ·  Pill-shaped CTAs  ·  Dotted-world-map iconography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A8B5"/>
                </a:solidFill>
                <a:latin typeface="Calibri"/>
              </a:rPr>
              <a:t>FEL International Shipping  ·  www.felinternational.com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A8B5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28640"/>
            <a:ext cx="320040" cy="30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ABE2"/>
                </a:solidFill>
                <a:latin typeface="Calibri"/>
              </a:rPr>
              <a:t>OUR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2535"/>
                </a:solidFill>
                <a:latin typeface="Calibri"/>
              </a:rPr>
              <a:t>Multi-modal freight, end-to-end.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56616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5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3566160" cy="16459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2535"/>
                </a:solidFill>
                <a:latin typeface="Calibri"/>
              </a:rPr>
              <a:t>Air Freight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Scheduled &amp; charter flights; time-critical lanes; priority customs.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377440"/>
            <a:ext cx="356616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5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377440"/>
            <a:ext cx="3566160" cy="16459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2535"/>
                </a:solidFill>
                <a:latin typeface="Calibri"/>
              </a:rPr>
              <a:t>Sea Freight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5661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FCL · LCL · break-bulk; consolidated GCC and global ocean lanes.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2377440"/>
            <a:ext cx="356616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5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2377440"/>
            <a:ext cx="3566160" cy="16459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28346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2535"/>
                </a:solidFill>
                <a:latin typeface="Calibri"/>
              </a:rPr>
              <a:t>Land Freight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35661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FTL · LTL · reefer; GPS-tracked fleets across the GCC corridor.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A8B5"/>
                </a:solidFill>
                <a:latin typeface="Calibri"/>
              </a:rPr>
              <a:t>FEL International Shipping  ·  www.felinternational.com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A8B5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28640"/>
            <a:ext cx="320040" cy="30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ABE2"/>
                </a:solidFill>
                <a:latin typeface="Calibri"/>
              </a:rPr>
              <a:t>SERVICE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2535"/>
                </a:solidFill>
                <a:latin typeface="Calibri"/>
              </a:rPr>
              <a:t>Beyond the headline modes.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2560320" cy="1463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2535"/>
                </a:solidFill>
                <a:latin typeface="Calibri"/>
              </a:rPr>
              <a:t>Door-to-Door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2560320" cy="1463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743200"/>
            <a:ext cx="411480" cy="4114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246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2535"/>
                </a:solidFill>
                <a:latin typeface="Calibri"/>
              </a:rPr>
              <a:t>Customs Clearance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468880"/>
            <a:ext cx="2560320" cy="1463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2743200"/>
            <a:ext cx="411480" cy="4114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2535"/>
                </a:solidFill>
                <a:latin typeface="Calibri"/>
              </a:rPr>
              <a:t>Warehousing &amp; 3PL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468880"/>
            <a:ext cx="2560320" cy="1463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2743200"/>
            <a:ext cx="411480" cy="4114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246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2535"/>
                </a:solidFill>
                <a:latin typeface="Calibri"/>
              </a:rPr>
              <a:t>Commercial Cargo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60520"/>
            <a:ext cx="2560320" cy="1463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2535"/>
                </a:solidFill>
                <a:latin typeface="Calibri"/>
              </a:rPr>
              <a:t>Personal Effects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160520"/>
            <a:ext cx="2560320" cy="1463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57600" y="4434840"/>
            <a:ext cx="411480" cy="4114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937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2535"/>
                </a:solidFill>
                <a:latin typeface="Calibri"/>
              </a:rPr>
              <a:t>Express Delivery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160520"/>
            <a:ext cx="2560320" cy="1463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4434840"/>
            <a:ext cx="411480" cy="4114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937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2535"/>
                </a:solidFill>
                <a:latin typeface="Calibri"/>
              </a:rPr>
              <a:t>Import / Export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4160520"/>
            <a:ext cx="2560320" cy="1463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4434840"/>
            <a:ext cx="411480" cy="4114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4937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2535"/>
                </a:solidFill>
                <a:latin typeface="Calibri"/>
              </a:rPr>
              <a:t>GCC Freight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A8B5"/>
                </a:solidFill>
                <a:latin typeface="Calibri"/>
              </a:rPr>
              <a:t>FEL International Shipping  ·  www.felinternational.com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A8B5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28640"/>
            <a:ext cx="320040" cy="30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ABE2"/>
                </a:solidFill>
                <a:latin typeface="Calibri"/>
              </a:rPr>
              <a:t>GLOBAL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Two hubs. 120+ countries.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7315200" cy="4023360"/>
          </a:xfrm>
          <a:prstGeom prst="rect">
            <a:avLst/>
          </a:prstGeom>
          <a:solidFill>
            <a:srgbClr val="133146"/>
          </a:solidFill>
          <a:ln>
            <a:solidFill>
              <a:srgbClr val="29A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03980" y="2861516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9885" y="5504848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47193" y="3421710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12507" y="2979824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18048" y="2824455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6646" y="5501145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14946" y="2759207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93490" y="4164228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6692" y="2519538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26052" y="3311594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91781" y="4514173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90179" y="2505859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48144" y="3228545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46487" y="5120372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23220" y="4680210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59267" y="3319154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08318" y="4866119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73712" y="5789557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4595" y="5577228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99781" y="3064219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6497" y="4167133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94308" y="3560036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44336" y="3297651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44732" y="3806339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97481" y="2783564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27141" y="2800217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51417" y="5949209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25389" y="4926770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59041" y="5779901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04568" y="5455276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94015" y="4643663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87197" y="3982248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501103" y="4709986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299437" y="5873335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13492" y="4988819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73694" y="4816150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453113" y="5349748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423550" y="2586761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7158" y="3350434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25047" y="3608341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509423" y="5982022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792871" y="6028855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87341" y="3988924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171891" y="4296300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72587" y="5893072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900514" y="3076780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945383" y="3884673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597552" y="5205478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652" y="5338207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74093" y="5112617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439047" y="4949440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166663" y="3112367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320770" y="5452739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93702" y="3079919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717799" y="3986111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104566" y="5078913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00" y="4730576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682345" y="5266040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560360" y="5929737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85161" y="5649339"/>
            <a:ext cx="54864" cy="54864"/>
          </a:xfrm>
          <a:prstGeom prst="ellipse">
            <a:avLst/>
          </a:prstGeom>
          <a:solidFill>
            <a:srgbClr val="7C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23360" y="3840480"/>
            <a:ext cx="274320" cy="274320"/>
          </a:xfrm>
          <a:prstGeom prst="ellipse">
            <a:avLst/>
          </a:prstGeom>
          <a:solidFill>
            <a:srgbClr val="29AB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43400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Dubai · UAE</a:t>
            </a:r>
          </a:p>
        </p:txBody>
      </p:sp>
      <p:sp>
        <p:nvSpPr>
          <p:cNvPr id="69" name="Oval 68"/>
          <p:cNvSpPr/>
          <p:nvPr/>
        </p:nvSpPr>
        <p:spPr>
          <a:xfrm>
            <a:off x="5120640" y="4114800"/>
            <a:ext cx="274320" cy="274320"/>
          </a:xfrm>
          <a:prstGeom prst="ellipse">
            <a:avLst/>
          </a:prstGeom>
          <a:solidFill>
            <a:srgbClr val="29AB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4068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Cochin · India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21040" y="2194560"/>
            <a:ext cx="3200400" cy="914400"/>
          </a:xfrm>
          <a:prstGeom prst="rect">
            <a:avLst/>
          </a:prstGeom>
          <a:solidFill>
            <a:srgbClr val="133146"/>
          </a:solidFill>
          <a:ln>
            <a:solidFill>
              <a:srgbClr val="29A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03920" y="23317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9ABE2"/>
                </a:solidFill>
                <a:latin typeface="Calibri"/>
              </a:rPr>
              <a:t>15k+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20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Shipments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3200400"/>
            <a:ext cx="3200400" cy="914400"/>
          </a:xfrm>
          <a:prstGeom prst="rect">
            <a:avLst/>
          </a:prstGeom>
          <a:solidFill>
            <a:srgbClr val="133146"/>
          </a:solidFill>
          <a:ln>
            <a:solidFill>
              <a:srgbClr val="29A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03920" y="3337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9ABE2"/>
                </a:solidFill>
                <a:latin typeface="Calibri"/>
              </a:rPr>
              <a:t>120+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03920" y="3749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Countries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21040" y="4206240"/>
            <a:ext cx="3200400" cy="914400"/>
          </a:xfrm>
          <a:prstGeom prst="rect">
            <a:avLst/>
          </a:prstGeom>
          <a:solidFill>
            <a:srgbClr val="133146"/>
          </a:solidFill>
          <a:ln>
            <a:solidFill>
              <a:srgbClr val="29A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03920" y="4343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9ABE2"/>
                </a:solidFill>
                <a:latin typeface="Calibri"/>
              </a:rPr>
              <a:t>850+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3920" y="47548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Clients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21040" y="5212080"/>
            <a:ext cx="3200400" cy="914400"/>
          </a:xfrm>
          <a:prstGeom prst="rect">
            <a:avLst/>
          </a:prstGeom>
          <a:solidFill>
            <a:srgbClr val="133146"/>
          </a:solidFill>
          <a:ln>
            <a:solidFill>
              <a:srgbClr val="29A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03920" y="5349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9ABE2"/>
                </a:solidFill>
                <a:latin typeface="Calibri"/>
              </a:rPr>
              <a:t>99%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03920" y="5760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On-time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A8B5"/>
                </a:solidFill>
                <a:latin typeface="Calibri"/>
              </a:rPr>
              <a:t>FEL International Shipping  ·  www.felinternational.com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A8B5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28640"/>
            <a:ext cx="320040" cy="30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ABE2"/>
                </a:solidFill>
                <a:latin typeface="Calibri"/>
              </a:rPr>
              <a:t>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2535"/>
                </a:solidFill>
                <a:latin typeface="Calibri"/>
              </a:rPr>
              <a:t>A simple, predictable process.</a:t>
            </a:r>
          </a:p>
        </p:txBody>
      </p:sp>
      <p:sp>
        <p:nvSpPr>
          <p:cNvPr id="6" name="Oval 5"/>
          <p:cNvSpPr/>
          <p:nvPr/>
        </p:nvSpPr>
        <p:spPr>
          <a:xfrm>
            <a:off x="1508760" y="2560320"/>
            <a:ext cx="914400" cy="91440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72491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D2535"/>
                </a:solidFill>
                <a:latin typeface="Calibri"/>
              </a:rPr>
              <a:t>Quote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2651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Tell us origin, destination, cargo. Transparent quote within 2 hours.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2560320"/>
            <a:ext cx="914400" cy="91440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72491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D2535"/>
                </a:solidFill>
                <a:latin typeface="Calibri"/>
              </a:rPr>
              <a:t>Pickup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251960"/>
            <a:ext cx="2651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We collect, label, and prepare cargo at origin with full documentation.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2560320"/>
            <a:ext cx="914400" cy="91440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72491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D2535"/>
                </a:solidFill>
                <a:latin typeface="Calibri"/>
              </a:rPr>
              <a:t>Transit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51960"/>
            <a:ext cx="2651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Live tracking, customs clearance, and proactive updates at every milestone.</a:t>
            </a:r>
          </a:p>
        </p:txBody>
      </p:sp>
      <p:sp>
        <p:nvSpPr>
          <p:cNvPr id="18" name="Oval 17"/>
          <p:cNvSpPr/>
          <p:nvPr/>
        </p:nvSpPr>
        <p:spPr>
          <a:xfrm>
            <a:off x="9875519" y="2560320"/>
            <a:ext cx="914400" cy="91440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19" y="272491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39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D2535"/>
                </a:solidFill>
                <a:latin typeface="Calibri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4251960"/>
            <a:ext cx="2651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Door-to-door handover with signed proof of delivery and a satisfaction check.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A8B5"/>
                </a:solidFill>
                <a:latin typeface="Calibri"/>
              </a:rPr>
              <a:t>FEL International Shipping  ·  www.felinternational.com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A8B5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28640"/>
            <a:ext cx="320040" cy="30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ABE2"/>
                </a:solidFill>
                <a:latin typeface="Calibri"/>
              </a:rPr>
              <a:t>INDUSTRIES 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2535"/>
                </a:solidFill>
                <a:latin typeface="Calibri"/>
              </a:rPr>
              <a:t>Tailored freight for every sector.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5661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5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164592" cy="173736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2535"/>
                </a:solidFill>
                <a:latin typeface="Calibri"/>
              </a:rPr>
              <a:t>Retail &amp; FMCG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468880"/>
            <a:ext cx="35661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5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468880"/>
            <a:ext cx="164592" cy="173736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30175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2535"/>
                </a:solidFill>
                <a:latin typeface="Calibri"/>
              </a:rPr>
              <a:t>Pharma &amp; Healthcare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2468880"/>
            <a:ext cx="35661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5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59" y="2468880"/>
            <a:ext cx="164592" cy="173736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59" y="30175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2535"/>
                </a:solidFill>
                <a:latin typeface="Calibri"/>
              </a:rPr>
              <a:t>Automotive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0560"/>
            <a:ext cx="35661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5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164592" cy="173736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2535"/>
                </a:solidFill>
                <a:latin typeface="Calibri"/>
              </a:rPr>
              <a:t>Oil &amp; Gas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480560"/>
            <a:ext cx="35661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5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4480560"/>
            <a:ext cx="164592" cy="173736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50292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2535"/>
                </a:solidFill>
                <a:latin typeface="Calibri"/>
              </a:rPr>
              <a:t>Technology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4480560"/>
            <a:ext cx="35661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5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59" y="4480560"/>
            <a:ext cx="164592" cy="173736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59" y="50292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2535"/>
                </a:solidFill>
                <a:latin typeface="Calibri"/>
              </a:rPr>
              <a:t>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A8B5"/>
                </a:solidFill>
                <a:latin typeface="Calibri"/>
              </a:rPr>
              <a:t>FEL International Shipping  ·  www.felinternational.com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A8B5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28640"/>
            <a:ext cx="320040" cy="30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ABE2"/>
                </a:solidFill>
                <a:latin typeface="Calibri"/>
              </a:rPr>
              <a:t>CLIENT TESTIMONIAL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2535"/>
                </a:solidFill>
                <a:latin typeface="Calibri"/>
              </a:rPr>
              <a:t>What our customers say.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566160" cy="34747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5B301"/>
                </a:solidFill>
                <a:latin typeface="Calibri"/>
              </a:rPr>
              <a:t>★★★★★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D2535"/>
                </a:solidFill>
                <a:latin typeface="Calibri"/>
              </a:rPr>
              <a:t>"FEL handled our pharma cold-chain from Cochin to Dubai with zero excursions. Customs paperwork was ready before the plane landed."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166360"/>
            <a:ext cx="3017520" cy="18288"/>
          </a:xfrm>
          <a:prstGeom prst="rect">
            <a:avLst/>
          </a:prstGeom>
          <a:solidFill>
            <a:srgbClr val="CD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D2535"/>
                </a:solidFill>
                <a:latin typeface="Calibri"/>
              </a:rPr>
              <a:t>Anita Rao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9ABE2"/>
                </a:solidFill>
                <a:latin typeface="Calibri"/>
              </a:rPr>
              <a:t>MEDFLOW LOGISTICS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468880"/>
            <a:ext cx="3566160" cy="34747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5B301"/>
                </a:solidFill>
                <a:latin typeface="Calibri"/>
              </a:rPr>
              <a:t>★★★★★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D2535"/>
                </a:solidFill>
                <a:latin typeface="Calibri"/>
              </a:rPr>
              <a:t>"Two years across LCL, FCL, and air. Pricing is honest, updates are constant. The GCC corridor is their bread and butter."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5166360"/>
            <a:ext cx="3017520" cy="18288"/>
          </a:xfrm>
          <a:prstGeom prst="rect">
            <a:avLst/>
          </a:prstGeom>
          <a:solidFill>
            <a:srgbClr val="CD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303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D2535"/>
                </a:solidFill>
                <a:latin typeface="Calibri"/>
              </a:rPr>
              <a:t>Mohammed Khalid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577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9ABE2"/>
                </a:solidFill>
                <a:latin typeface="Calibri"/>
              </a:rPr>
              <a:t>GULF RETAIL GROUP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2468880"/>
            <a:ext cx="3566160" cy="34747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9" y="2697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5B301"/>
                </a:solidFill>
                <a:latin typeface="Calibri"/>
              </a:rPr>
              <a:t>★★★★★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31089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D2535"/>
                </a:solidFill>
                <a:latin typeface="Calibri"/>
              </a:rPr>
              <a:t>"Personal relocation Kerala → Sharjah. They packed, shipped, cleared customs, and delivered. The calmest move I've had."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79" y="5166360"/>
            <a:ext cx="3017520" cy="18288"/>
          </a:xfrm>
          <a:prstGeom prst="rect">
            <a:avLst/>
          </a:prstGeom>
          <a:solidFill>
            <a:srgbClr val="CD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9" y="5303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D2535"/>
                </a:solidFill>
                <a:latin typeface="Calibri"/>
              </a:rPr>
              <a:t>Sandeep Pillai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5577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9ABE2"/>
                </a:solidFill>
                <a:latin typeface="Calibri"/>
              </a:rPr>
              <a:t>INDEPENDENT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A8B5"/>
                </a:solidFill>
                <a:latin typeface="Calibri"/>
              </a:rPr>
              <a:t>FEL International Shipping  ·  www.felinternational.com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A8B5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9ABE2"/>
                </a:solidFill>
                <a:latin typeface="Calibri"/>
              </a:rPr>
              <a:t>INTERNATIONAL  SHIPPING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Let's ship something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7ED4F5"/>
                </a:solidFill>
                <a:latin typeface="Calibri"/>
              </a:rPr>
              <a:t>Send us your shipment details — quote within 2 business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9ABE2"/>
                </a:solidFill>
                <a:latin typeface="Calibri"/>
              </a:rPr>
              <a:t>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Building no 55/1917, Ground floor,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KP Vallon Road, Kadavanthra,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Cochin 682020, Kerala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023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9ABE2"/>
                </a:solidFill>
                <a:latin typeface="Calibri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3434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accounts@felinternational.com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9ABE2"/>
                </a:solidFill>
                <a:latin typeface="Calibri"/>
              </a:rPr>
              <a:t>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+91 954 421 2353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9ABE2"/>
                </a:solidFill>
                <a:latin typeface="Calibri"/>
              </a:rPr>
              <a:t>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5321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www.felinternational.com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9ABE2"/>
                </a:solidFill>
                <a:latin typeface="Calibri"/>
              </a:rPr>
              <a:t>FEL International Shipping  ·  Made with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